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240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pic>
        <p:nvPicPr>
          <p:cNvPr id="3" name="Picture 2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731520"/>
            <a:ext cx="3291840" cy="5482275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120640"/>
            <a:ext cx="128016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304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700" b="1">
                <a:solidFill>
                  <a:srgbClr val="282D37"/>
                </a:solidFill>
                <a:latin typeface="Arial"/>
              </a:rPr>
              <a:t>•  </a:t>
            </a:r>
            <a:r>
              <a:rPr sz="1700" b="1" u="sng">
                <a:solidFill>
                  <a:srgbClr val="282D37"/>
                </a:solidFill>
                <a:latin typeface="Arial"/>
              </a:rPr>
              <a:t>Problem Statement ID - </a:t>
            </a:r>
            <a:r>
              <a:rPr sz="1700" b="1">
                <a:solidFill>
                  <a:srgbClr val="1A3C6E"/>
                </a:solidFill>
                <a:latin typeface="Arial"/>
              </a:rPr>
              <a:t>SIH26001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700" b="1">
                <a:solidFill>
                  <a:srgbClr val="282D37"/>
                </a:solidFill>
                <a:latin typeface="Arial"/>
              </a:rPr>
              <a:t>•  </a:t>
            </a:r>
            <a:r>
              <a:rPr sz="1700" b="1">
                <a:solidFill>
                  <a:srgbClr val="282D37"/>
                </a:solidFill>
                <a:latin typeface="Arial"/>
              </a:rPr>
              <a:t>Problem Statement Title - </a:t>
            </a:r>
            <a:r>
              <a:rPr sz="1700" b="1">
                <a:solidFill>
                  <a:srgbClr val="1A3C6E"/>
                </a:solidFill>
                <a:latin typeface="Arial"/>
              </a:rPr>
              <a:t>AI-Based early warning and landslide Risk Monitoring System in NER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700" b="1">
                <a:solidFill>
                  <a:srgbClr val="282D37"/>
                </a:solidFill>
                <a:latin typeface="Arial"/>
              </a:rPr>
              <a:t>•  </a:t>
            </a:r>
            <a:r>
              <a:rPr sz="1700" b="1">
                <a:solidFill>
                  <a:srgbClr val="282D37"/>
                </a:solidFill>
                <a:latin typeface="Arial"/>
              </a:rPr>
              <a:t>Theme - </a:t>
            </a:r>
            <a:r>
              <a:rPr sz="1700" b="1">
                <a:solidFill>
                  <a:srgbClr val="1A3C6E"/>
                </a:solidFill>
                <a:latin typeface="Arial"/>
              </a:rPr>
              <a:t>Disaster Management / Miscellaneous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700" b="1">
                <a:solidFill>
                  <a:srgbClr val="282D37"/>
                </a:solidFill>
                <a:latin typeface="Arial"/>
              </a:rPr>
              <a:t>•  </a:t>
            </a:r>
            <a:r>
              <a:rPr sz="1700" b="1">
                <a:solidFill>
                  <a:srgbClr val="282D37"/>
                </a:solidFill>
                <a:latin typeface="Arial"/>
              </a:rPr>
              <a:t>PS Category - </a:t>
            </a:r>
            <a:r>
              <a:rPr sz="1700" b="1">
                <a:solidFill>
                  <a:srgbClr val="1A3C6E"/>
                </a:solidFill>
                <a:latin typeface="Arial"/>
              </a:rPr>
              <a:t>Software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700" b="1">
                <a:solidFill>
                  <a:srgbClr val="282D37"/>
                </a:solidFill>
                <a:latin typeface="Arial"/>
              </a:rPr>
              <a:t>•  </a:t>
            </a:r>
            <a:r>
              <a:rPr sz="1700" b="1">
                <a:solidFill>
                  <a:srgbClr val="282D37"/>
                </a:solidFill>
                <a:latin typeface="Arial"/>
              </a:rPr>
              <a:t>Team Name - </a:t>
            </a:r>
            <a:r>
              <a:rPr sz="1700" b="1">
                <a:solidFill>
                  <a:srgbClr val="1A3C6E"/>
                </a:solidFill>
                <a:latin typeface="Arial"/>
              </a:rPr>
              <a:t>AEGIS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700" b="1">
                <a:solidFill>
                  <a:srgbClr val="282D37"/>
                </a:solidFill>
                <a:latin typeface="Arial"/>
              </a:rPr>
              <a:t>•  </a:t>
            </a:r>
            <a:r>
              <a:rPr sz="1700" b="1">
                <a:solidFill>
                  <a:srgbClr val="282D37"/>
                </a:solidFill>
                <a:latin typeface="Arial"/>
              </a:rPr>
              <a:t>Institution - </a:t>
            </a:r>
            <a:r>
              <a:rPr sz="1700" b="1">
                <a:solidFill>
                  <a:srgbClr val="1A3C6E"/>
                </a:solidFill>
                <a:latin typeface="Arial"/>
              </a:rPr>
              <a:t>[Your College / Institute Name]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700" b="1">
                <a:solidFill>
                  <a:srgbClr val="282D37"/>
                </a:solidFill>
                <a:latin typeface="Arial"/>
              </a:rPr>
              <a:t>•  </a:t>
            </a:r>
            <a:r>
              <a:rPr sz="1700" b="1">
                <a:solidFill>
                  <a:srgbClr val="282D37"/>
                </a:solidFill>
                <a:latin typeface="Arial"/>
              </a:rPr>
              <a:t>Team Members - </a:t>
            </a:r>
            <a:r>
              <a:rPr sz="1700" b="1">
                <a:solidFill>
                  <a:srgbClr val="1A3C6E"/>
                </a:solidFill>
                <a:latin typeface="Arial"/>
              </a:rPr>
              <a:t>Harsh Pathak (Lead) + 5 Members (CSE / IT / AI-DS)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700" b="1">
                <a:solidFill>
                  <a:srgbClr val="282D37"/>
                </a:solidFill>
                <a:latin typeface="Arial"/>
              </a:rPr>
              <a:t>•  </a:t>
            </a:r>
            <a:r>
              <a:rPr sz="1700" b="1">
                <a:solidFill>
                  <a:srgbClr val="282D37"/>
                </a:solidFill>
                <a:latin typeface="Arial"/>
              </a:rPr>
              <a:t>Mentor - </a:t>
            </a:r>
            <a:r>
              <a:rPr sz="1700" b="1">
                <a:solidFill>
                  <a:srgbClr val="1A3C6E"/>
                </a:solidFill>
                <a:latin typeface="Arial"/>
              </a:rPr>
              <a:t>[Faculty / Industry Mentor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9B27"/>
                </a:solidFill>
                <a:latin typeface="Arial"/>
              </a:defRPr>
            </a:pPr>
            <a:r>
              <a:t>SMART INDIA HACKATHON 2026 | PS ID: SIH26001</a:t>
            </a:r>
          </a:p>
          <a:p>
            <a:pPr>
              <a:defRPr sz="2300" b="1">
                <a:solidFill>
                  <a:srgbClr val="0F2240"/>
                </a:solidFill>
                <a:latin typeface="Arial"/>
              </a:defRPr>
            </a:pPr>
            <a:r>
              <a:t>Problem Understanding: The NER Landslide Crisis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521600" cy="868680"/>
          </a:xfrm>
          <a:prstGeom prst="rect">
            <a:avLst/>
          </a:prstGeom>
        </p:spPr>
      </p:pic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320040"/>
            <a:ext cx="7772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The Ground Reality in North-East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50">
                <a:solidFill>
                  <a:srgbClr val="1A3C6E"/>
                </a:solidFill>
              </a:rPr>
              <a:t>•  The Core Crisis: </a:t>
            </a:r>
            <a:r>
              <a:rPr sz="1350">
                <a:solidFill>
                  <a:srgbClr val="282D37"/>
                </a:solidFill>
              </a:rPr>
              <a:t>The North Eastern Region (NER) accounts for over 70% of non-Himalayan landslide disasters in India, triggered by intense monsoon precipitation on young, fragile sedimentary slopes.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A3C6E"/>
                </a:solidFill>
              </a:rPr>
              <a:t>•  Who is Affected: </a:t>
            </a:r>
            <a:r>
              <a:rPr sz="1350">
                <a:solidFill>
                  <a:srgbClr val="282D37"/>
                </a:solidFill>
              </a:rPr>
              <a:t>Over 4.5 crore citizens across 8 NER states face constant risk. Chronic subsidence corridors (NH-44 in Meghalaya, NH-29 in Nagaland, Haflong railway in Assam) are repeatedly paralyzed.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A3C6E"/>
                </a:solidFill>
              </a:rPr>
              <a:t>•  Geotechnical Sensitivity: </a:t>
            </a:r>
            <a:r>
              <a:rPr sz="1350">
                <a:solidFill>
                  <a:srgbClr val="282D37"/>
                </a:solidFill>
              </a:rPr>
              <a:t>Heavy saturation of fragile Disang shale formations, steep escarpments (Sohra/Mawsynram), and high pore-water pressure trigger rapid, catastrophic debris 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103120"/>
          </a:xfrm>
          <a:prstGeom prst="roundRect">
            <a:avLst/>
          </a:prstGeom>
          <a:solidFill>
            <a:srgbClr val="FDEDEC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CRITICAL STATISTIC (GSI / NDMA DATA)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C0392B"/>
                </a:solidFill>
              </a:defRPr>
            </a:pPr>
            <a:r>
              <a:t>70% of Fatal Landslides in India Occur in NER</a:t>
            </a:r>
          </a:p>
          <a:p>
            <a:pPr>
              <a:defRPr sz="1250">
                <a:solidFill>
                  <a:srgbClr val="282D37"/>
                </a:solidFill>
              </a:defRPr>
            </a:pPr>
            <a:r>
              <a:t>Over 180 fatal slope failures and Rs 1,400+ Crore in arterial transport and economic damage were recorded in the recent monsoon alone.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212080" cy="24688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977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Current Solutions &amp; Their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976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50">
                <a:solidFill>
                  <a:srgbClr val="C0392B"/>
                </a:solidFill>
              </a:rPr>
              <a:t>•  Static Hazard Maps: </a:t>
            </a:r>
            <a:r>
              <a:rPr sz="1250">
                <a:solidFill>
                  <a:srgbClr val="282D37"/>
                </a:solidFill>
              </a:rPr>
              <a:t>Existing GSI maps are static PDFs without real-time rainfall integration.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C0392B"/>
                </a:solidFill>
              </a:rPr>
              <a:t>•  No Citizen Tool: </a:t>
            </a:r>
            <a:r>
              <a:rPr sz="1250">
                <a:solidFill>
                  <a:srgbClr val="282D37"/>
                </a:solidFill>
              </a:rPr>
              <a:t>Citizens cannot check: 'Is my current GPS coordinate safe right now?'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C0392B"/>
                </a:solidFill>
              </a:rPr>
              <a:t>•  Siloed Response: </a:t>
            </a:r>
            <a:r>
              <a:rPr sz="1250">
                <a:solidFill>
                  <a:srgbClr val="282D37"/>
                </a:solidFill>
              </a:rPr>
              <a:t>Alerting NDRF, highway closure, and hospitals relies on slow manual phone calls.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9B27"/>
                </a:solidFill>
                <a:latin typeface="Arial"/>
              </a:defRPr>
            </a:pPr>
            <a:r>
              <a:t>SMART INDIA HACKATHON 2026 | PS ID: SIH26001</a:t>
            </a:r>
          </a:p>
          <a:p>
            <a:pPr>
              <a:defRPr sz="2300" b="1">
                <a:solidFill>
                  <a:srgbClr val="0F2240"/>
                </a:solidFill>
                <a:latin typeface="Arial"/>
              </a:defRPr>
            </a:pPr>
            <a:r>
              <a:t>Proposed Solution: NER-LEWS (Team AEGIS)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521600" cy="868680"/>
          </a:xfrm>
          <a:prstGeom prst="rect">
            <a:avLst/>
          </a:prstGeom>
        </p:spPr>
      </p:pic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320040"/>
            <a:ext cx="777240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10728655" cy="868680"/>
          </a:xfrm>
          <a:prstGeom prst="rect">
            <a:avLst/>
          </a:prstGeom>
          <a:solidFill>
            <a:srgbClr val="0F2240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"An AI-powered, multimodal early warning GIS platform fusing real-time rainfall telemetry, geotechnical hazard models, and automated multi-channel emergency dispatch for the NER."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383280" cy="38404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1. Dynamic Geotechnical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350">
                <a:solidFill>
                  <a:srgbClr val="282D37"/>
                </a:solidFill>
              </a:defRPr>
            </a:pPr>
            <a:r>
              <a:t>Fuses live Open-Meteo precipitation, antecedent moisture, Disang shale properties, pore pressure, and slope angles into an XGBoost + Random Forest ensemble delivering live 0-100% susceptibility scoring.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468880"/>
            <a:ext cx="3383280" cy="38404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6060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2. 1-Click Citizen Safety GPS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175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350">
                <a:solidFill>
                  <a:srgbClr val="282D37"/>
                </a:solidFill>
              </a:defRPr>
            </a:pPr>
            <a:r>
              <a:t>Citizens and motorists tap one button to acquire browser GPS, evaluating immediate slope risk ('YOU ARE SAFE' or 'CRITICAL RISK') with actionable evacuation advisories.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468880"/>
            <a:ext cx="3383280" cy="38404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6060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3. Automated 1-Click Dispatch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175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350">
                <a:solidFill>
                  <a:srgbClr val="282D37"/>
                </a:solidFill>
              </a:defRPr>
            </a:pPr>
            <a:r>
              <a:t>Dispatches multi-channel priority alerts: automated NDRF 1st Bn mobilization, NH-44 highway closures, hospital alerts, and cell-broadcast sirens without API bottlenecks.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9B27"/>
                </a:solidFill>
                <a:latin typeface="Arial"/>
              </a:defRPr>
            </a:pPr>
            <a:r>
              <a:t>SMART INDIA HACKATHON 2026 | PS ID: SIH26001</a:t>
            </a:r>
          </a:p>
          <a:p>
            <a:pPr>
              <a:defRPr sz="2300" b="1">
                <a:solidFill>
                  <a:srgbClr val="0F2240"/>
                </a:solidFill>
                <a:latin typeface="Arial"/>
              </a:defRPr>
            </a:pPr>
            <a:r>
              <a:t>Technical Architecture &amp;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521600" cy="868680"/>
          </a:xfrm>
          <a:prstGeom prst="rect">
            <a:avLst/>
          </a:prstGeom>
        </p:spPr>
      </p:pic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320040"/>
            <a:ext cx="7772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2499055" cy="237744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2133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Data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50">
                <a:solidFill>
                  <a:srgbClr val="282D37"/>
                </a:solidFill>
              </a:defRPr>
            </a:pPr>
            <a:r>
              <a:t>Live Open-Meteo API</a:t>
            </a:r>
            <a:br/>
            <a:r>
              <a:t>In-situ Sensor Telemetry</a:t>
            </a:r>
            <a:br/>
            <a:r>
              <a:t>GSI NLSM Geodata</a:t>
            </a:r>
            <a:br/>
            <a:r>
              <a:t>Crowdsourced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499055" cy="237744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2133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AI Hazard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0116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50">
                <a:solidFill>
                  <a:srgbClr val="282D37"/>
                </a:solidFill>
              </a:defRPr>
            </a:pPr>
            <a:r>
              <a:t>LandslideNet v3.2</a:t>
            </a:r>
            <a:br/>
            <a:r>
              <a:t>XGBoost + Random Forest</a:t>
            </a:r>
            <a:br/>
            <a:r>
              <a:t>SHAP Feature Weights</a:t>
            </a:r>
            <a:br/>
            <a:r>
              <a:t>Geotechnical Thresholds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499055" cy="237744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2133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GIS Spatial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116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50">
                <a:solidFill>
                  <a:srgbClr val="282D37"/>
                </a:solidFill>
              </a:defRPr>
            </a:pPr>
            <a:r>
              <a:t>Hardware-accel Leaflet</a:t>
            </a:r>
            <a:br/>
            <a:r>
              <a:t>ESRI World Topo Map</a:t>
            </a:r>
            <a:br/>
            <a:r>
              <a:t>High-Res Satellite View</a:t>
            </a:r>
            <a:br/>
            <a:r>
              <a:t>Sovereign India Bounds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463040"/>
            <a:ext cx="2499055" cy="237744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600200"/>
            <a:ext cx="2133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Emergency Dispatch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0116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50">
                <a:solidFill>
                  <a:srgbClr val="282D37"/>
                </a:solidFill>
              </a:defRPr>
            </a:pPr>
            <a:r>
              <a:t>ntfy.sh Siren Broadcast</a:t>
            </a:r>
            <a:br/>
            <a:r>
              <a:t>NDRF 1st Bn Webhooks</a:t>
            </a:r>
            <a:br/>
            <a:r>
              <a:t>NHAI Highway Barriers</a:t>
            </a:r>
            <a:br/>
            <a:r>
              <a:t>Citizen GPS Analyzer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69080"/>
            <a:ext cx="10728655" cy="23317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Technology Stack &amp; Core Components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3C6E"/>
                </a:solidFill>
              </a:rPr>
              <a:t>•  Frontend: </a:t>
            </a:r>
            <a:r>
              <a:rPr sz="1300">
                <a:solidFill>
                  <a:srgbClr val="282D37"/>
                </a:solidFill>
              </a:rPr>
              <a:t>React 18, Vite 5, React-Leaflet 4, Axios, Tailwind CSS, Hardware-Accelerated Vector Polygons.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3C6E"/>
                </a:solidFill>
              </a:rPr>
              <a:t>•  Backend: </a:t>
            </a:r>
            <a:r>
              <a:rPr sz="1300">
                <a:solidFill>
                  <a:srgbClr val="282D37"/>
                </a:solidFill>
              </a:rPr>
              <a:t>Python 3.10+, FastAPI (Async/Await), Uvicorn ASGI Server, SQLAlchemy ORM, Pydantic v2 validation.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3C6E"/>
                </a:solidFill>
              </a:rPr>
              <a:t>•  Geospatial &amp; Mapping: </a:t>
            </a:r>
            <a:r>
              <a:rPr sz="1300">
                <a:solidFill>
                  <a:srgbClr val="282D37"/>
                </a:solidFill>
              </a:rPr>
              <a:t>ESRI World Topo Map, ESRI High-Res Satellite Imagery, ESRI World Boundaries &amp; Places overlay.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3C6E"/>
                </a:solidFill>
              </a:rPr>
              <a:t>•  AI / ML Pipeline: </a:t>
            </a:r>
            <a:r>
              <a:rPr sz="1300">
                <a:solidFill>
                  <a:srgbClr val="282D37"/>
                </a:solidFill>
              </a:rPr>
              <a:t>Scikit-Learn, XGBoost, SHAP Explainability Engine, Joblib Serialization, Open-Meteo REST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9B27"/>
                </a:solidFill>
                <a:latin typeface="Arial"/>
              </a:defRPr>
            </a:pPr>
            <a:r>
              <a:t>SMART INDIA HACKATHON 2026 | PS ID: SIH26001</a:t>
            </a:r>
          </a:p>
          <a:p>
            <a:pPr>
              <a:defRPr sz="2300" b="1">
                <a:solidFill>
                  <a:srgbClr val="0F2240"/>
                </a:solidFill>
                <a:latin typeface="Arial"/>
              </a:defRPr>
            </a:pPr>
            <a:r>
              <a:t>Innovation &amp; Novelty: Why Team AEGIS Stands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521600" cy="868680"/>
          </a:xfrm>
          <a:prstGeom prst="rect">
            <a:avLst/>
          </a:prstGeom>
        </p:spPr>
      </p:pic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320040"/>
            <a:ext cx="7772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1. Sovereign-Constrained Vector 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282D37"/>
                </a:solidFill>
              </a:defRPr>
            </a:pPr>
            <a:r>
              <a:t>Unlike open-source map tools that bleed across disputed borders, all 16 regional polygons are strictly mathematically anchored inside Indian sovereign territory with zero spillover into Tibet, Bangladesh, or Myanmar.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2. Interactive Meteorological Stress-Testing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282D37"/>
                </a:solidFill>
              </a:defRPr>
            </a:pPr>
            <a:r>
              <a:t>An interactive What-If slider (0.5x to 2.5x rainfall) allowing emergency commanders to simulate extreme cloudburst events in real time. Uses geotechnical damping curves to compute non-linear slope saturation.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3. Dual-Layer Hybrid Satellite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282D37"/>
                </a:solidFill>
              </a:defRPr>
            </a:pPr>
            <a:r>
              <a:t>Combines high-resolution satellite imagery with a live ESRI administrative boundary overlay, ensuring roads, towns, and river channels remain visible during real-time evacuation planning.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4. Zero-Bottleneck Siren Dispatch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282D37"/>
                </a:solidFill>
              </a:defRPr>
            </a:pPr>
            <a:r>
              <a:t>Eliminates third-party API rate-limits and bot-token failures by utilizing autonomous push webhooks, delivering emergency siren broadcasts to responder units in under 2.3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9B27"/>
                </a:solidFill>
                <a:latin typeface="Arial"/>
              </a:defRPr>
            </a:pPr>
            <a:r>
              <a:t>SMART INDIA HACKATHON 2026 | PS ID: SIH26001</a:t>
            </a:r>
          </a:p>
          <a:p>
            <a:pPr>
              <a:defRPr sz="2300" b="1">
                <a:solidFill>
                  <a:srgbClr val="0F2240"/>
                </a:solidFill>
                <a:latin typeface="Arial"/>
              </a:defRPr>
            </a:pPr>
            <a:r>
              <a:t>Feasibility, Viability &amp; 1000x Scalability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521600" cy="868680"/>
          </a:xfrm>
          <a:prstGeom prst="rect">
            <a:avLst/>
          </a:prstGeom>
        </p:spPr>
      </p:pic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320040"/>
            <a:ext cx="7772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Grand Finale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27AE60"/>
                </a:solidFill>
              </a:rPr>
              <a:t>•  100% Operational MVP: </a:t>
            </a:r>
            <a:r>
              <a:rPr sz="1300">
                <a:solidFill>
                  <a:srgbClr val="282D37"/>
                </a:solidFill>
              </a:rPr>
              <a:t>Working prototype is already built, tested, and live-deployed on Netlify and Render.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7AE60"/>
                </a:solidFill>
              </a:rPr>
              <a:t>•  Zero Cost Infrastructure: </a:t>
            </a:r>
            <a:r>
              <a:rPr sz="1300">
                <a:solidFill>
                  <a:srgbClr val="282D37"/>
                </a:solidFill>
              </a:rPr>
              <a:t>Operates on free-tier cloud infrastructure, Open-Meteo telemetry, and ESRI open GIS.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7AE60"/>
                </a:solidFill>
              </a:rPr>
              <a:t>•  No Paid API Key Blocker: </a:t>
            </a:r>
            <a:r>
              <a:rPr sz="1300">
                <a:solidFill>
                  <a:srgbClr val="282D37"/>
                </a:solidFill>
              </a:rPr>
              <a:t>Zero dependence on paid Google Maps keys or Twilio SMS tokens - fully self-reliant.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383280" cy="48463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002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Open-Source Resources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1A3C6E"/>
                </a:solidFill>
              </a:rPr>
              <a:t>•  Open-Meteo: </a:t>
            </a:r>
            <a:r>
              <a:rPr sz="1300">
                <a:solidFill>
                  <a:srgbClr val="282D37"/>
                </a:solidFill>
              </a:rPr>
              <a:t>High-precision meteorological forecast &amp; hourly rain gauges.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A3C6E"/>
                </a:solidFill>
              </a:rPr>
              <a:t>•  ESRI Topo &amp; Imagery: </a:t>
            </a:r>
            <a:r>
              <a:rPr sz="1300">
                <a:solidFill>
                  <a:srgbClr val="282D37"/>
                </a:solidFill>
              </a:rPr>
              <a:t>World Topo &amp; Imagery CDN with zero-rate limit tile streaming.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A3C6E"/>
                </a:solidFill>
              </a:rPr>
              <a:t>•  GSI NLSM: </a:t>
            </a:r>
            <a:r>
              <a:rPr sz="1300">
                <a:solidFill>
                  <a:srgbClr val="282D37"/>
                </a:solidFill>
              </a:rPr>
              <a:t>Geological Survey of India 5-tier Susceptibility parameters.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A3C6E"/>
                </a:solidFill>
              </a:rPr>
              <a:t>•  ntfy.sh: </a:t>
            </a:r>
            <a:r>
              <a:rPr sz="1300">
                <a:solidFill>
                  <a:srgbClr val="282D37"/>
                </a:solidFill>
              </a:rPr>
              <a:t>Public-topic emergency siren push notification gateway.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322015" cy="48463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00200"/>
            <a:ext cx="2956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1000x Scalability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C59B27"/>
                </a:solidFill>
              </a:rPr>
              <a:t>•  Stateless Backend: </a:t>
            </a:r>
            <a:r>
              <a:rPr sz="1300">
                <a:solidFill>
                  <a:srgbClr val="282D37"/>
                </a:solidFill>
              </a:rPr>
              <a:t>FastAPI container horizontally scalable across Kubernetes clusters.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C59B27"/>
                </a:solidFill>
              </a:rPr>
              <a:t>•  Edge Client GIS: </a:t>
            </a:r>
            <a:r>
              <a:rPr sz="1300">
                <a:solidFill>
                  <a:srgbClr val="282D37"/>
                </a:solidFill>
              </a:rPr>
              <a:t>Vector polygon rendering executes on user browser GPU - zero server load.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C59B27"/>
                </a:solidFill>
              </a:rPr>
              <a:t>•  PostgreSQL + PostGIS: </a:t>
            </a:r>
            <a:r>
              <a:rPr sz="1300">
                <a:solidFill>
                  <a:srgbClr val="282D37"/>
                </a:solidFill>
              </a:rPr>
              <a:t>Seamless production migration path from SQLite to national spatial DBs.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9B27"/>
                </a:solidFill>
                <a:latin typeface="Arial"/>
              </a:defRPr>
            </a:pPr>
            <a:r>
              <a:t>SMART INDIA HACKATHON 2026 | PS ID: SIH26001</a:t>
            </a:r>
          </a:p>
          <a:p>
            <a:pPr>
              <a:defRPr sz="2300" b="1">
                <a:solidFill>
                  <a:srgbClr val="0F2240"/>
                </a:solidFill>
                <a:latin typeface="Arial"/>
              </a:defRPr>
            </a:pPr>
            <a:r>
              <a:t>Quantifiable Impact, Beneficiaries &amp; SDG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521600" cy="868680"/>
          </a:xfrm>
          <a:prstGeom prst="rect">
            <a:avLst/>
          </a:prstGeom>
        </p:spPr>
      </p:pic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320040"/>
            <a:ext cx="7772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2542032" cy="20116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2359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800">
                <a:solidFill>
                  <a:srgbClr val="C0392B"/>
                </a:solidFill>
              </a:defRPr>
            </a:pPr>
            <a:r>
              <a:t>4.5+ Crore</a:t>
            </a:r>
          </a:p>
          <a:p>
            <a:pPr algn="ctr">
              <a:defRPr sz="1250">
                <a:solidFill>
                  <a:srgbClr val="282D37"/>
                </a:solidFill>
              </a:defRPr>
            </a:pPr>
            <a:r>
              <a:t>NER citizens protected across 8 North-Eastern states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63040"/>
            <a:ext cx="2542032" cy="20116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645920"/>
            <a:ext cx="2359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800">
                <a:solidFill>
                  <a:srgbClr val="27AE60"/>
                </a:solidFill>
              </a:defRPr>
            </a:pPr>
            <a:r>
              <a:t>4-6 Hours</a:t>
            </a:r>
          </a:p>
          <a:p>
            <a:pPr algn="ctr">
              <a:defRPr sz="1250">
                <a:solidFill>
                  <a:srgbClr val="282D37"/>
                </a:solidFill>
              </a:defRPr>
            </a:pPr>
            <a:r>
              <a:t>Advance evacuation notice window for high-risk hamlets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463040"/>
            <a:ext cx="2542032" cy="20116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1645920"/>
            <a:ext cx="2359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800">
                <a:solidFill>
                  <a:srgbClr val="1A3C6E"/>
                </a:solidFill>
              </a:defRPr>
            </a:pPr>
            <a:r>
              <a:t>67% Faster</a:t>
            </a:r>
          </a:p>
          <a:p>
            <a:pPr algn="ctr">
              <a:defRPr sz="1250">
                <a:solidFill>
                  <a:srgbClr val="282D37"/>
                </a:solidFill>
              </a:defRPr>
            </a:pPr>
            <a:r>
              <a:t>Emergency response dispatch vs manual phone chains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463040"/>
            <a:ext cx="2542032" cy="20116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97696" y="1645920"/>
            <a:ext cx="2359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800">
                <a:solidFill>
                  <a:srgbClr val="C59B27"/>
                </a:solidFill>
              </a:defRPr>
            </a:pPr>
            <a:r>
              <a:t>Rs 200+ Cr</a:t>
            </a:r>
          </a:p>
          <a:p>
            <a:pPr algn="ctr">
              <a:defRPr sz="1250">
                <a:solidFill>
                  <a:srgbClr val="282D37"/>
                </a:solidFill>
              </a:defRPr>
            </a:pPr>
            <a:r>
              <a:t>Estimated annual transport infrastructure damage avoided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212080" cy="265176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199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Key Beneficiaries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50">
                <a:solidFill>
                  <a:srgbClr val="1A3C6E"/>
                </a:solidFill>
              </a:rPr>
              <a:t>•  Local Citizens &amp; Commuters: </a:t>
            </a:r>
            <a:r>
              <a:rPr sz="1250">
                <a:solidFill>
                  <a:srgbClr val="282D37"/>
                </a:solidFill>
              </a:rPr>
              <a:t>Instant GPS verification preventing travel through active debris flows.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A3C6E"/>
                </a:solidFill>
              </a:rPr>
              <a:t>•  MDoNER &amp; NDMA / SDRF: </a:t>
            </a:r>
            <a:r>
              <a:rPr sz="1250">
                <a:solidFill>
                  <a:srgbClr val="282D37"/>
                </a:solidFill>
              </a:rPr>
              <a:t>Prioritized automated evacuation mobilization and resource allocation.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A3C6E"/>
                </a:solidFill>
              </a:rPr>
              <a:t>•  NHAI &amp; BRO: </a:t>
            </a:r>
            <a:r>
              <a:rPr sz="1250">
                <a:solidFill>
                  <a:srgbClr val="282D37"/>
                </a:solidFill>
              </a:rPr>
              <a:t>Early highway closure triggers protecting convoys along NH-44 and NH-29.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39"/>
            <a:ext cx="5242255" cy="265176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86199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UN Sustainable Development Goals (SDGs)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062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50">
                <a:solidFill>
                  <a:srgbClr val="27AE60"/>
                </a:solidFill>
              </a:rPr>
              <a:t>•  SDG 11 (Sustainable Cities &amp; Communities): </a:t>
            </a:r>
            <a:r>
              <a:rPr sz="1250">
                <a:solidFill>
                  <a:srgbClr val="282D37"/>
                </a:solidFill>
              </a:rPr>
              <a:t>Target 11.5 - Substantially decrease disaster-induced fatalities and economic losses in mountainous habitats.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27AE60"/>
                </a:solidFill>
              </a:rPr>
              <a:t>•  SDG 13 (Climate Action): </a:t>
            </a:r>
            <a:r>
              <a:rPr sz="1250">
                <a:solidFill>
                  <a:srgbClr val="282D37"/>
                </a:solidFill>
              </a:rPr>
              <a:t>Target 13.1 - Strengthen resilience and adaptive capacity to climate-induced cloudburst and monsoon extremes.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27AE60"/>
                </a:solidFill>
              </a:rPr>
              <a:t>•  SDG 9 (Resilient Infrastructure): </a:t>
            </a:r>
            <a:r>
              <a:rPr sz="1250">
                <a:solidFill>
                  <a:srgbClr val="282D37"/>
                </a:solidFill>
              </a:rPr>
              <a:t>Preserving arterial logistics and transport corridors across remote frontier states.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9B27"/>
                </a:solidFill>
                <a:latin typeface="Arial"/>
              </a:defRPr>
            </a:pPr>
            <a:r>
              <a:t>SMART INDIA HACKATHON 2026 | PS ID: SIH26001</a:t>
            </a:r>
          </a:p>
          <a:p>
            <a:pPr>
              <a:defRPr sz="2300" b="1">
                <a:solidFill>
                  <a:srgbClr val="0F2240"/>
                </a:solidFill>
                <a:latin typeface="Arial"/>
              </a:defRPr>
            </a:pPr>
            <a:r>
              <a:t>Working Prototype &amp; Live Deployment Showcase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521600" cy="868680"/>
          </a:xfrm>
          <a:prstGeom prst="rect">
            <a:avLst/>
          </a:prstGeom>
        </p:spPr>
      </p:pic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320040"/>
            <a:ext cx="7772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Live Production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1A3C6E"/>
                </a:solidFill>
              </a:rPr>
              <a:t>Live Web Application (Netlify):
</a:t>
            </a:r>
            <a:r>
              <a:rPr sz="1250">
                <a:solidFill>
                  <a:srgbClr val="282D37"/>
                </a:solidFill>
              </a:rPr>
              <a:t>https://lloydaegis.netlify.app
Global CDN-hosted responsive GIS portal.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3C6E"/>
                </a:solidFill>
              </a:rPr>
              <a:t>Live Cloud Backend (Render):
</a:t>
            </a:r>
            <a:r>
              <a:rPr sz="1250">
                <a:solidFill>
                  <a:srgbClr val="282D37"/>
                </a:solidFill>
              </a:rPr>
              <a:t>https://aegis-lews.onrender.com
High-performance asynchronous FastAPI API engine.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3C6E"/>
                </a:solidFill>
              </a:rPr>
              <a:t>Interactive API Documentation:
</a:t>
            </a:r>
            <a:r>
              <a:rPr sz="1250">
                <a:solidFill>
                  <a:srgbClr val="282D37"/>
                </a:solidFill>
              </a:rPr>
              <a:t>https://aegis-lews.onrender.com/docs
OpenAPI Swagger interface for live endpoint testing.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A3C6E"/>
                </a:solidFill>
              </a:rPr>
              <a:t>GitHub Source Code Repository:
</a:t>
            </a:r>
            <a:r>
              <a:rPr sz="1250">
                <a:solidFill>
                  <a:srgbClr val="282D37"/>
                </a:solidFill>
              </a:rPr>
              <a:t>https://github.com/diverse-07/aegis-lews
Complete production repository with architectural specs.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Operational System Modules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C0392B"/>
                </a:solidFill>
              </a:rPr>
              <a:t>•  Live GIS Zonation Map: </a:t>
            </a:r>
            <a:r>
              <a:rPr sz="1250">
                <a:solidFill>
                  <a:srgbClr val="282D37"/>
                </a:solidFill>
              </a:rPr>
              <a:t>16 sovereign Indian polygons with GSI 5-tier dynamic color transitions.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C0392B"/>
                </a:solidFill>
              </a:rPr>
              <a:t>•  Terrain &amp; Satellite Views: </a:t>
            </a:r>
            <a:r>
              <a:rPr sz="1250">
                <a:solidFill>
                  <a:srgbClr val="282D37"/>
                </a:solidFill>
              </a:rPr>
              <a:t>ESRI World Topo + high-res satellite imagery with administrative boundary stack.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C0392B"/>
                </a:solidFill>
              </a:rPr>
              <a:t>•  1-Click Citizen Locator: </a:t>
            </a:r>
            <a:r>
              <a:rPr sz="1250">
                <a:solidFill>
                  <a:srgbClr val="282D37"/>
                </a:solidFill>
              </a:rPr>
              <a:t>Browser GPS geolocation with instant live weather &amp; safety classification card.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C0392B"/>
                </a:solidFill>
              </a:rPr>
              <a:t>•  What-If Rainfall Stress Slider: </a:t>
            </a:r>
            <a:r>
              <a:rPr sz="1250">
                <a:solidFill>
                  <a:srgbClr val="282D37"/>
                </a:solidFill>
              </a:rPr>
              <a:t>Real-time 0.5x-2.5x monsoon cloudburst simulation.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C0392B"/>
                </a:solidFill>
              </a:rPr>
              <a:t>•  Multi-Channel Siren Dispatch: </a:t>
            </a:r>
            <a:r>
              <a:rPr sz="1250">
                <a:solidFill>
                  <a:srgbClr val="282D37"/>
                </a:solidFill>
              </a:rPr>
              <a:t>5-channel response grid sending push broadcasts to responder devices.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9B27"/>
                </a:solidFill>
                <a:latin typeface="Arial"/>
              </a:defRPr>
            </a:pPr>
            <a:r>
              <a:t>SMART INDIA HACKATHON 2026 | PS ID: SIH26001</a:t>
            </a:r>
          </a:p>
          <a:p>
            <a:pPr>
              <a:defRPr sz="2300" b="1">
                <a:solidFill>
                  <a:srgbClr val="0F2240"/>
                </a:solidFill>
                <a:latin typeface="Arial"/>
              </a:defRPr>
            </a:pPr>
            <a:r>
              <a:t>Grand Finale 36-Hour Sprint Execution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521600" cy="868680"/>
          </a:xfrm>
          <a:prstGeom prst="rect">
            <a:avLst/>
          </a:prstGeom>
        </p:spPr>
      </p:pic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320040"/>
            <a:ext cx="7772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A3C6E"/>
                </a:solidFill>
              </a:defRPr>
            </a:pPr>
            <a:r>
              <a:t>Hours 0 - 6: Pipeline &amp;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27632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Finalize Open-Meteo &amp; IMD telemetry endpoints; configure SQLite/PostGIS schemas; test GSI boundary GeoJSONs.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728655" cy="105156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62072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2240"/>
                </a:solidFill>
              </a:defRPr>
            </a:pPr>
            <a:r>
              <a:t>Hours 6 - 18: Model 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862072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Calibrate XGBoost geotechnical weights against historical NER cloudburst records; implement real-time SHAP feature scoring.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96512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C59B27"/>
                </a:solidFill>
              </a:defRPr>
            </a:pPr>
            <a:r>
              <a:t>Hours 18 - 28: UI &amp; Multi-Channel Alerting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096512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Integrate citizen location analyzer with live telemetry; polish dual-layer satellite views; hook up emergency siren dispatch.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30952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7AE60"/>
                </a:solidFill>
              </a:defRPr>
            </a:pPr>
            <a:r>
              <a:t>Hours 28 - 36: Stress-Testing &amp; Final Pitch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330952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Simulate heavy monsoon load testing; verify zero tile-dropouts on slow 3G networks; finalize live pitch demo.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9B27"/>
                </a:solidFill>
                <a:latin typeface="Arial"/>
              </a:defRPr>
            </a:pPr>
            <a:r>
              <a:t>SMART INDIA HACKATHON 2026 | PS ID: SIH26001</a:t>
            </a:r>
          </a:p>
          <a:p>
            <a:pPr>
              <a:defRPr sz="2300" b="1">
                <a:solidFill>
                  <a:srgbClr val="0F2240"/>
                </a:solidFill>
                <a:latin typeface="Arial"/>
              </a:defRPr>
            </a:pPr>
            <a:r>
              <a:t>Team AEGIS &amp; Research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521600" cy="868680"/>
          </a:xfrm>
          <a:prstGeom prst="rect">
            <a:avLst/>
          </a:prstGeom>
        </p:spPr>
      </p:pic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320040"/>
            <a:ext cx="7772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Team AEGIS Members &amp;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50">
                <a:solidFill>
                  <a:srgbClr val="1A3C6E"/>
                </a:solidFill>
              </a:rPr>
              <a:t>•  Harsh Pathak (Team Lead): </a:t>
            </a:r>
            <a:r>
              <a:rPr sz="1250">
                <a:solidFill>
                  <a:srgbClr val="282D37"/>
                </a:solidFill>
              </a:rPr>
              <a:t>Full-Stack System Architecture &amp; Cloud Infrastructure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A3C6E"/>
                </a:solidFill>
              </a:rPr>
              <a:t>•  Member 2: </a:t>
            </a:r>
            <a:r>
              <a:rPr sz="1250">
                <a:solidFill>
                  <a:srgbClr val="282D37"/>
                </a:solidFill>
              </a:rPr>
              <a:t>Machine Learning, Geotechnical Hazard Scoring &amp; SHAP Models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A3C6E"/>
                </a:solidFill>
              </a:rPr>
              <a:t>•  Member 3: </a:t>
            </a:r>
            <a:r>
              <a:rPr sz="1250">
                <a:solidFill>
                  <a:srgbClr val="282D37"/>
                </a:solidFill>
              </a:rPr>
              <a:t>GIS Engineering, ESRI Layering &amp; Boundary Constraint Math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A3C6E"/>
                </a:solidFill>
              </a:rPr>
              <a:t>•  Member 4: </a:t>
            </a:r>
            <a:r>
              <a:rPr sz="1250">
                <a:solidFill>
                  <a:srgbClr val="282D37"/>
                </a:solidFill>
              </a:rPr>
              <a:t>FastAPI Backend Engineering, Asynchronous Data Pipelines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A3C6E"/>
                </a:solidFill>
              </a:rPr>
              <a:t>•  Member 5: </a:t>
            </a:r>
            <a:r>
              <a:rPr sz="1250">
                <a:solidFill>
                  <a:srgbClr val="282D37"/>
                </a:solidFill>
              </a:rPr>
              <a:t>Frontend UI/UX, Leaflet Map Optimization &amp; Responsive Design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A3C6E"/>
                </a:solidFill>
              </a:rPr>
              <a:t>•  Member 6: </a:t>
            </a:r>
            <a:r>
              <a:rPr sz="1250">
                <a:solidFill>
                  <a:srgbClr val="282D37"/>
                </a:solidFill>
              </a:rPr>
              <a:t>Testing, Disaster Protocol Validation &amp; Pitch Coordination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1A3C6E"/>
                </a:solidFill>
              </a:rPr>
              <a:t>•  Faculty Mentor: </a:t>
            </a:r>
            <a:r>
              <a:rPr sz="1250">
                <a:solidFill>
                  <a:srgbClr val="282D37"/>
                </a:solidFill>
              </a:rPr>
              <a:t>Senior Professor - Geotechnical / Disaster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C6E"/>
                </a:solidFill>
                <a:latin typeface="Arial"/>
              </a:defRPr>
            </a:pPr>
            <a:r>
              <a:t>Research References &amp; Industry Guidelines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50">
                <a:solidFill>
                  <a:srgbClr val="C59B27"/>
                </a:solidFill>
              </a:rPr>
              <a:t>•  Geological Survey of India (GSI): </a:t>
            </a:r>
            <a:r>
              <a:rPr sz="1250">
                <a:solidFill>
                  <a:srgbClr val="282D37"/>
                </a:solidFill>
              </a:rPr>
              <a:t>National Landslide Susceptibility Mapping (NLSM) guidelines &amp; zonation standards.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C59B27"/>
                </a:solidFill>
              </a:rPr>
              <a:t>•  National Disaster Management Authority (NDMA): </a:t>
            </a:r>
            <a:r>
              <a:rPr sz="1250">
                <a:solidFill>
                  <a:srgbClr val="282D37"/>
                </a:solidFill>
              </a:rPr>
              <a:t>Guidelines on Management of Landslides and Snow Avalanches (GoI).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C59B27"/>
                </a:solidFill>
              </a:rPr>
              <a:t>•  IMD &amp; Open-Meteo Telemetry: </a:t>
            </a:r>
            <a:r>
              <a:rPr sz="1250">
                <a:solidFill>
                  <a:srgbClr val="282D37"/>
                </a:solidFill>
              </a:rPr>
              <a:t>Real-time rainfall threshold and antecedent precipitation index models.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C59B27"/>
                </a:solidFill>
              </a:rPr>
              <a:t>•  Research Benchmark: </a:t>
            </a:r>
            <a:r>
              <a:rPr sz="1250">
                <a:solidFill>
                  <a:srgbClr val="282D37"/>
                </a:solidFill>
              </a:rPr>
              <a:t>Guzzetti et al. (2007) - 'Rainfall thresholds for the initiation of landslides in central and southern Europe and the Himalayas'.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